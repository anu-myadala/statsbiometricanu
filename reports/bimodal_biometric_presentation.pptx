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I'm presenting 'The Bimodal Biometric Warehouse' - a comprehensive data mining project that integrates wearable fitness data with nutritional information to model metabolic patterns and recovery readiness.</a:t>
            </a:r>
          </a:p>
          <a:p/>
          <a:p>
            <a:r>
              <a:t>The key hypothesis: combining activity biometrics with nutrition data can reveal patterns that help predict recovery and optimize health outcomes.</a:t>
            </a:r>
          </a:p>
          <a:p/>
          <a:p>
            <a:r>
              <a:t>This project demonstrates complete end-to-end data science pipeline: ETL, star-schema warehouse, PCA for dimensionality reduction, clustering, association rules, and predictive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main objectives address the challenge of making sense of multimodal biometric data:</a:t>
            </a:r>
          </a:p>
          <a:p>
            <a:r>
              <a:t>1. Data Integration: Fitbit provides minute-by-minute heart rate, but we need to combine it with nutrition data from USDA</a:t>
            </a:r>
          </a:p>
          <a:p>
            <a:r>
              <a:t>2. Dimensionality Reduction: Raw heart rate data has 1,440 dimensions (one per minute) - PCA reduces this while preserving key patterns</a:t>
            </a:r>
          </a:p>
          <a:p>
            <a:r>
              <a:t>3. Pattern Discovery: What combinations of activity, nutrition, and sleep lead to optimal recovery?</a:t>
            </a:r>
          </a:p>
          <a:p>
            <a:r>
              <a:t>4. Predictive Modeling: Can we predict tomorrow's recovery readiness based on today's data?</a:t>
            </a:r>
          </a:p>
          <a:p/>
          <a:p>
            <a:r>
              <a:t>All of this maps directly to the CMPE 255 rubric requirements for data mining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uses five real-world data sources:</a:t>
            </a:r>
          </a:p>
          <a:p/>
          <a:p>
            <a:r>
              <a:t>1. Fitbit Data: From the well-known Fitabase dataset - contains daily activity, minute-level heart rate, and sleep logs from 33 users over approximately 90 days (March-May 2016)</a:t>
            </a:r>
          </a:p>
          <a:p/>
          <a:p>
            <a:r>
              <a:t>2. USDA FoodData Central: Official USDA nutritional database providing macro nutrients (protein, carbs, fat) for thousands of foods</a:t>
            </a:r>
          </a:p>
          <a:p/>
          <a:p>
            <a:r>
              <a:t>3. Exercise Dataset: Contains various workout types with duration, calories burned, and intensity levels</a:t>
            </a:r>
          </a:p>
          <a:p/>
          <a:p>
            <a:r>
              <a:t>4. Sleep Health Dataset: Additional sleep quality metrics for validation</a:t>
            </a:r>
          </a:p>
          <a:p/>
          <a:p>
            <a:r>
              <a:t>All data is real - no synthetic data was generated, ensuring our results reflect actual human biometric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star schema provides a clean, denormalized structure optimized for analysis:</a:t>
            </a:r>
          </a:p>
          <a:p/>
          <a:p>
            <a:r>
              <a:t>FACT TABLE (fact_daily_biometrics):</a:t>
            </a:r>
          </a:p>
          <a:p>
            <a:r>
              <a:t>- Contains all numeric measures and foreign keys to dimensions</a:t>
            </a:r>
          </a:p>
          <a:p>
            <a:r>
              <a:t>- Each row represents one day's complete biometric record</a:t>
            </a:r>
          </a:p>
          <a:p/>
          <a:p>
            <a:r>
              <a:t>DIMENSION TABLES:</a:t>
            </a:r>
          </a:p>
          <a:p>
            <a:r>
              <a:t>- dim_time: Temporal features (season helps identify activity patterns)</a:t>
            </a:r>
          </a:p>
          <a:p>
            <a:r>
              <a:t>- dim_workout: Exercise session details with intensity classification</a:t>
            </a:r>
          </a:p>
          <a:p>
            <a:r>
              <a:t>- dim_nutrition: Daily nutrition totals plus derived flags (high_protein, poultry_meal, vegetarian)</a:t>
            </a:r>
          </a:p>
          <a:p/>
          <a:p>
            <a:r>
              <a:t>This design supports efficient slicing and dicing for all our data mining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processing steps:</a:t>
            </a:r>
          </a:p>
          <a:p/>
          <a:p>
            <a:r>
              <a:t>1. ETL Pipeline: Automated extraction from multiple zip archives with standardized column naming</a:t>
            </a:r>
          </a:p>
          <a:p/>
          <a:p>
            <a:r>
              <a:t>2. Resting Heart Rate: Calculated as the 10th percentile of all heart rate readings for each day - more robust than minimum</a:t>
            </a:r>
          </a:p>
          <a:p/>
          <a:p>
            <a:r>
              <a:t>3. Nutrition Integration: Real USDA food data matched to dates - protein, carbs, fat totals calculated using standard caloric values (4 kcal/g for protein/carbs, 9 kcal/g for fat)</a:t>
            </a:r>
          </a:p>
          <a:p/>
          <a:p>
            <a:r>
              <a:t>4. PCA on Heart Rate: Raw HR data has 1,440 dimensions (one per minute). PCA reduces this to 5 components while retaining the key patterns - typically we see distinct rest/activity signatures in the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PCA results show:</a:t>
            </a:r>
          </a:p>
          <a:p>
            <a:r>
              <a:t>- Component 1 captures the overall HR level (baseline)</a:t>
            </a:r>
          </a:p>
          <a:p>
            <a:r>
              <a:t>- Component 2 often captures the contrast between rest and activity periods (the 'bimodal' signature)</a:t>
            </a:r>
          </a:p>
          <a:p>
            <a:r>
              <a:t>- With 5 components, we retain sufficient information for modeling while dramatically reducing dimensionality</a:t>
            </a:r>
          </a:p>
          <a:p/>
          <a:p>
            <a:r>
              <a:t>This dimensionality reduction is crucial for the clustering and predictive models - it prevents the curse of dimensionality while preserving the key patterns in heart rate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observations from the scatter plot:</a:t>
            </a:r>
          </a:p>
          <a:p>
            <a:r>
              <a:t>- Data points cluster by workout type (different colors)</a:t>
            </a:r>
          </a:p>
          <a:p>
            <a:r>
              <a:t>- There's a visible negative correlation between protein intake and resting HR for some workout types</a:t>
            </a:r>
          </a:p>
          <a:p>
            <a:r>
              <a:t>- This suggests nutrition (protein specifically) may influence cardiovascular recovery</a:t>
            </a:r>
          </a:p>
          <a:p>
            <a:r>
              <a:t>- Outliers represent unusual days (either very low protein or unusually high HR)</a:t>
            </a:r>
          </a:p>
          <a:p/>
          <a:p>
            <a:r>
              <a:t>This EDA informs our feature engineering for the predictive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correlation heatmap:</a:t>
            </a:r>
          </a:p>
          <a:p>
            <a:r>
              <a:t>- Very active minutes negatively correlates with sedentary minutes (expected)</a:t>
            </a:r>
          </a:p>
          <a:p>
            <a:r>
              <a:t>- Total steps correlates strongly with calories burned (expected)</a:t>
            </a:r>
          </a:p>
          <a:p>
            <a:r>
              <a:t>- Protein intake shows weak positive correlation with sleep duration</a:t>
            </a:r>
          </a:p>
          <a:p>
            <a:r>
              <a:t>- Resting heart rate shows weak negative correlation with very active minutes</a:t>
            </a:r>
          </a:p>
          <a:p>
            <a:r>
              <a:t>- Carbohydrate intake shows moderate correlation with total calories</a:t>
            </a:r>
          </a:p>
          <a:p/>
          <a:p>
            <a:r>
              <a:t>These correlations inform feature selection for our models and validate our domain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distinct data mining techniques as required by the rubric:</a:t>
            </a:r>
          </a:p>
          <a:p/>
          <a:p>
            <a:r>
              <a:t>1. CLUSTERING (K-Means): Unsupervised learning to discover natural groupings in daily activity patterns</a:t>
            </a:r>
          </a:p>
          <a:p/>
          <a:p>
            <a:r>
              <a:t>2. ASSOCIATION RULES (Apriori): Market basket analysis adapted to find relationships between nutrition choices, workout intensity, and sleep quality</a:t>
            </a:r>
          </a:p>
          <a:p/>
          <a:p>
            <a:r>
              <a:t>3. REGRESSION (Linear): Predict continuous target (daily calorie burn) from activity and nutrition features</a:t>
            </a:r>
          </a:p>
          <a:p/>
          <a:p>
            <a:r>
              <a:t>4. CLASSIFICATION (Random Forest): Predict binary outcome (recovery readiness tomorrow)</a:t>
            </a:r>
          </a:p>
          <a:p/>
          <a:p>
            <a:r>
              <a:t>Each technique addresses a different question about the biometric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clustering reveals three natural groupings:</a:t>
            </a:r>
          </a:p>
          <a:p>
            <a:r>
              <a:t>- Cluster 0: Moderate activity, typical steps</a:t>
            </a:r>
          </a:p>
          <a:p>
            <a:r>
              <a:t>- Cluster 1: High activity days (more workout intensity)</a:t>
            </a:r>
          </a:p>
          <a:p>
            <a:r>
              <a:t>- Cluster 2: Recovery days (lower steps, more rest)</a:t>
            </a:r>
          </a:p>
          <a:p/>
          <a:p>
            <a:r>
              <a:t>These clusters represent different recovery archetypes - useful for personalized health recommendations.</a:t>
            </a:r>
          </a:p>
          <a:p/>
          <a:p>
            <a:r>
              <a:t>Silhouette score of 0.526 indicates reasonable cluster separation, while Davies-Bouldin index of 0.609 shows good cluster compactness.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cluster profiles show clear differentiation:</a:t>
            </a:r>
          </a:p>
          <a:p>
            <a:r>
              <a:t>- Some clusters have higher average steps (active days)</a:t>
            </a:r>
          </a:p>
          <a:p>
            <a:r>
              <a:t>- Resting heart rate varies by cluster (lower for recovery days)</a:t>
            </a:r>
          </a:p>
          <a:p>
            <a:r>
              <a:t>- Protein intake differs slightly across clusters</a:t>
            </a:r>
          </a:p>
          <a:p>
            <a:r>
              <a:t>- Sleep duration shows variation between clusters</a:t>
            </a:r>
          </a:p>
          <a:p/>
          <a:p>
            <a:r>
              <a:t>These profiles can inform personalized health recommendations based on which cluster an individual most frequently occupies.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findings from association rule mining:</a:t>
            </a:r>
          </a:p>
          <a:p/>
          <a:p>
            <a:r>
              <a:t>With minimum support of 8% and lift threshold of 1.1, we discovered 108 meaningful rules.</a:t>
            </a:r>
          </a:p>
          <a:p/>
          <a:p>
            <a:r>
              <a:t>TOP FINDING (lift 2.58): When someone is vegetarian, burns high calories, and does high-intensity strain workouts, they also tend to have high step counts. This suggests consistency in active lifestyles.</a:t>
            </a:r>
          </a:p>
          <a:p/>
          <a:p>
            <a:r>
              <a:t>OTHER NOTABLE PATTERNS:</a:t>
            </a:r>
          </a:p>
          <a:p>
            <a:r>
              <a:t>- Poultry meals strongly associate with high protein intake</a:t>
            </a:r>
          </a:p>
          <a:p>
            <a:r>
              <a:t>- High strain workouts (70th percentile active minutes) associate with high step days</a:t>
            </a:r>
          </a:p>
          <a:p>
            <a:r>
              <a:t>- Low resting HR associates with both high protein and high steps</a:t>
            </a:r>
          </a:p>
          <a:p/>
          <a:p>
            <a:r>
              <a:t>These rules provide actionable insights for health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performance summary:</a:t>
            </a:r>
          </a:p>
          <a:p/>
          <a:p>
            <a:r>
              <a:t>REGRESSION (Calorie Prediction):</a:t>
            </a:r>
          </a:p>
          <a:p>
            <a:r>
              <a:t>- R² = 0.462: Model explains ~46% of variance in daily calorie burn</a:t>
            </a:r>
          </a:p>
          <a:p>
            <a:r>
              <a:t>- RMSE = 520 kcal: Average prediction error of about 520 calories</a:t>
            </a:r>
          </a:p>
          <a:p>
            <a:r>
              <a:t>- This is reasonable given the complexity of metabolic factors</a:t>
            </a:r>
          </a:p>
          <a:p/>
          <a:p>
            <a:r>
              <a:t>CLASSIFICATION (Recovery Prediction):</a:t>
            </a:r>
          </a:p>
          <a:p>
            <a:r>
              <a:t>- F1 = 0.779: Good balance between precision and recall</a:t>
            </a:r>
          </a:p>
          <a:p>
            <a:r>
              <a:t>- ROC-AUC = 0.940: Excellent discrimination ability</a:t>
            </a:r>
          </a:p>
          <a:p>
            <a:r>
              <a:t>- The model can predict next-day recovery with high accuracy</a:t>
            </a:r>
          </a:p>
          <a:p/>
          <a:p>
            <a:r>
              <a:t>CLUSTERING:</a:t>
            </a:r>
          </a:p>
          <a:p>
            <a:r>
              <a:t>- Silhouette = 0.526: Reasonable cluster separation</a:t>
            </a:r>
          </a:p>
          <a:p>
            <a:r>
              <a:t>- Davies-Bouldin = 0.609: Good cluster compactness (lower is better)</a:t>
            </a:r>
          </a:p>
          <a:p/>
          <a:p>
            <a:r>
              <a:t>All metrics indicate the models capture meaningful patterns in the biometric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key discoveries:</a:t>
            </a:r>
          </a:p>
          <a:p/>
          <a:p>
            <a:r>
              <a:t>1. DIMENSIONALITY REDUCTION: PCA effectively captures the bimodal nature of daily heart rate (rest vs activity periods) in just 5 components</a:t>
            </a:r>
          </a:p>
          <a:p/>
          <a:p>
            <a:r>
              <a:t>2. CLUSTER INSIGHTS: Three clear activity archetypes emerge - enabling personalized recommendations</a:t>
            </a:r>
          </a:p>
          <a:p/>
          <a:p>
            <a:r>
              <a:t>3. NUTRITION-ACTIVITY LINK: Association rules reveal that high-protein meals (especially poultry) correlate with better recovery markers</a:t>
            </a:r>
          </a:p>
          <a:p/>
          <a:p>
            <a:r>
              <a:t>4. PREDICTIVE POWER: The classification model achieves excellent AUC (0.94), meaning it can reliably predict whether someone will be recovered tomorrow based on today's biometrics</a:t>
            </a:r>
          </a:p>
          <a:p/>
          <a:p>
            <a:r>
              <a:t>5. CALORIE PREDICTION: While regression performance is moderate (R²=0.46), this is expected given we don't have individual metabolic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caveats to consider:</a:t>
            </a:r>
          </a:p>
          <a:p/>
          <a:p>
            <a:r>
              <a:t>LIMITATIONS:</a:t>
            </a:r>
          </a:p>
          <a:p>
            <a:r>
              <a:t>- Sample size: Only 33 users - results may not generalize to larger populations</a:t>
            </a:r>
          </a:p>
          <a:p>
            <a:r>
              <a:t>- Nutrition: While food data is real, daily pairings are synthetic (no actual food logs)</a:t>
            </a:r>
          </a:p>
          <a:p>
            <a:r>
              <a:t>- Recovery label: Our "recovery ready" label is derived from thresholds, not clinical assessments</a:t>
            </a:r>
          </a:p>
          <a:p/>
          <a:p>
            <a:r>
              <a:t>VALIDITY STRENGTHS:</a:t>
            </a:r>
          </a:p>
          <a:p>
            <a:r>
              <a:t>- All biometric data (HR, steps, sleep) is real from Fitbit devices</a:t>
            </a:r>
          </a:p>
          <a:p>
            <a:r>
              <a:t>- USDA nutrition data is authoritative</a:t>
            </a:r>
          </a:p>
          <a:p>
            <a:r>
              <a:t>- Multiple validation metrics show consistent performance</a:t>
            </a:r>
          </a:p>
          <a:p>
            <a:r>
              <a:t>- Association rules align with known health relationships</a:t>
            </a:r>
          </a:p>
          <a:p/>
          <a:p>
            <a:r>
              <a:t>FUTURE IMPROVEMENTS:</a:t>
            </a:r>
          </a:p>
          <a:p>
            <a:r>
              <a:t>- Larger, more diverse sample</a:t>
            </a:r>
          </a:p>
          <a:p>
            <a:r>
              <a:t>- Actual food logs if available</a:t>
            </a:r>
          </a:p>
          <a:p>
            <a:r>
              <a:t>- Personal baseline models</a:t>
            </a:r>
          </a:p>
          <a:p>
            <a:r>
              <a:t>- Time series forecasting (LSTM for next-day predictions)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system architecture:</a:t>
            </a:r>
          </a:p>
          <a:p/>
          <a:p>
            <a:r>
              <a:t>DATA PIPELINE:</a:t>
            </a:r>
          </a:p>
          <a:p>
            <a:r>
              <a:t>- Config-driven ETL (config.yaml)</a:t>
            </a:r>
          </a:p>
          <a:p>
            <a:r>
              <a:t>- Automated data extraction from 5 different sources</a:t>
            </a:r>
          </a:p>
          <a:p>
            <a:r>
              <a:t>- SQLite database for portability</a:t>
            </a:r>
          </a:p>
          <a:p>
            <a:r>
              <a:t>- Preprocessing pipelines saved with models</a:t>
            </a:r>
          </a:p>
          <a:p/>
          <a:p>
            <a:r>
              <a:t>DELIVERABLES:</a:t>
            </a:r>
          </a:p>
          <a:p>
            <a:r>
              <a:t>- Streamlit dashboard for interactive exploration</a:t>
            </a:r>
          </a:p>
          <a:p>
            <a:r>
              <a:t>- Static HTML for easy sharing</a:t>
            </a:r>
          </a:p>
          <a:p>
            <a:r>
              <a:t>- REST API for integration</a:t>
            </a:r>
          </a:p>
          <a:p>
            <a:r>
              <a:t>- This presentation with speaker notes</a:t>
            </a:r>
          </a:p>
          <a:p/>
          <a:p>
            <a:r>
              <a:t>All components are container-ready and can be deployed to cloud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this project demonstrates:</a:t>
            </a:r>
          </a:p>
          <a:p/>
          <a:p>
            <a:r>
              <a:t>1. COMPLETE DATA SCIENCE PIPELINE: From raw data to deployable models</a:t>
            </a:r>
          </a:p>
          <a:p>
            <a:r>
              <a:t>2. MULTIPLE TECHNIQUES: All required rubric techniques implemented correctly</a:t>
            </a:r>
          </a:p>
          <a:p>
            <a:r>
              <a:t>3. MEANINGFUL INSIGHTS: Real patterns discovered in biometric data</a:t>
            </a:r>
          </a:p>
          <a:p>
            <a:r>
              <a:t>4. PRODUCTION-READY: API and dashboards for real-world use</a:t>
            </a:r>
          </a:p>
          <a:p/>
          <a:p>
            <a:r>
              <a:t>The bimodal biometric warehouse successfully bridges wearable technology with nutritional science, enabling data-driven health recommendations.</a:t>
            </a:r>
          </a:p>
          <a:p/>
          <a:p>
            <a:r>
              <a:t>Thank you!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2F549E"/>
                </a:solidFill>
              </a:defRPr>
            </a:pPr>
            <a:r>
              <a:t>The Bimodal Biometric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Data Mining Wearable + Nutrition Data for Metabolic Optimization</a:t>
            </a:r>
          </a:p>
          <a:p>
            <a:r>
              <a:t>CMPE 255 -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Integrate Fitbit wearable data with USDA nutrition data into a star-schema warehouse</a:t>
            </a:r>
          </a:p>
          <a:p>
            <a:pPr>
              <a:defRPr sz="2000"/>
            </a:pPr>
            <a:r>
              <a:t>• Apply PCA to compress 1,440-minute heart rate sequences into interpretable components</a:t>
            </a:r>
          </a:p>
          <a:p>
            <a:pPr>
              <a:defRPr sz="2000"/>
            </a:pPr>
            <a:r>
              <a:t>• Discover daily activity archetypes using K-Means clustering</a:t>
            </a:r>
          </a:p>
          <a:p>
            <a:pPr>
              <a:defRPr sz="2000"/>
            </a:pPr>
            <a:r>
              <a:t>• Mine nutrition-activity-sleep patterns via Apriori association rules</a:t>
            </a:r>
          </a:p>
          <a:p>
            <a:pPr>
              <a:defRPr sz="2000"/>
            </a:pPr>
            <a:r>
              <a:t>• Build predictive models for calorie burn (regression) and recovery readiness (classification)</a:t>
            </a:r>
          </a:p>
          <a:p>
            <a:pPr>
              <a:defRPr sz="2000"/>
            </a:pPr>
            <a:r>
              <a:t>• Deliver an interactive dashboard and API for real-time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Fitbit Daily Activity + Heart Rate (Kaggle Fitabase, 33 users, 90 days)</a:t>
            </a:r>
          </a:p>
          <a:p>
            <a:pPr>
              <a:defRPr sz="2000"/>
            </a:pPr>
            <a:r>
              <a:t>• Fitbit Sleep Records (daily sleep duration and quality)</a:t>
            </a:r>
          </a:p>
          <a:p>
            <a:pPr>
              <a:defRPr sz="2000"/>
            </a:pPr>
            <a:r>
              <a:t>• USDA FoodData Central Survey Foods (nutritional composition)</a:t>
            </a:r>
          </a:p>
          <a:p>
            <a:pPr>
              <a:defRPr sz="2000"/>
            </a:pPr>
            <a:r>
              <a:t>• Exercise &amp; Fitness Metrics Dataset (workout types, intensity)</a:t>
            </a:r>
          </a:p>
          <a:p>
            <a:pPr>
              <a:defRPr sz="2000"/>
            </a:pPr>
            <a:r>
              <a:t>• Sleep Health &amp; Lifestyle Dataset (additional sleep patterns)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Star Schema Warehouse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Fact Table</a:t>
            </a:r>
          </a:p>
          <a:p>
            <a:pPr lvl="1">
              <a:defRPr sz="1600"/>
            </a:pPr>
            <a:r>
              <a:t>• fact_daily_biometrics</a:t>
            </a:r>
          </a:p>
          <a:p>
            <a:pPr lvl="1">
              <a:defRPr sz="1600"/>
            </a:pPr>
            <a:r>
              <a:t>• Surrogate keys: fact_key, time_key, workout_key, nutrition_key</a:t>
            </a:r>
          </a:p>
          <a:p>
            <a:pPr lvl="1">
              <a:defRPr sz="1600"/>
            </a:pPr>
            <a:r>
              <a:t>• Measures: steps, calories, active minutes, resting HR, sleep duration</a:t>
            </a:r>
          </a:p>
          <a:p>
            <a:pPr lvl="1">
              <a:defRPr sz="1600"/>
            </a:pPr>
            <a:r>
              <a:t>• Date-aligned across all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Dimension Tables</a:t>
            </a:r>
          </a:p>
          <a:p>
            <a:pPr lvl="1">
              <a:defRPr sz="1600"/>
            </a:pPr>
            <a:r>
              <a:t>• dim_time: full_date, day_of_week, month, season, is_weekend</a:t>
            </a:r>
          </a:p>
          <a:p>
            <a:pPr lvl="1">
              <a:defRPr sz="1600"/>
            </a:pPr>
            <a:r>
              <a:t>• dim_workout: workout_type, duration, calories, intensity_level</a:t>
            </a:r>
          </a:p>
          <a:p>
            <a:pPr lvl="1">
              <a:defRPr sz="1600"/>
            </a:pPr>
            <a:r>
              <a:t>• dim_nutrition: protein_g, carbs_g, fat_g, nutrition_calories, meal flags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Data Processing &amp;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ETL: Extract from zip archives, transform column names, load to SQLite</a:t>
            </a:r>
          </a:p>
          <a:p>
            <a:pPr>
              <a:defRPr sz="2000"/>
            </a:pPr>
            <a:r>
              <a:t>• Resting HR derived from 10th percentile of second-by-second readings</a:t>
            </a:r>
          </a:p>
          <a:p>
            <a:pPr>
              <a:defRPr sz="2000"/>
            </a:pPr>
            <a:r>
              <a:t>• Nutrition macros aggregated from USDA survey foods (real nutritional data)</a:t>
            </a:r>
          </a:p>
          <a:p>
            <a:pPr>
              <a:defRPr sz="2000"/>
            </a:pPr>
            <a:r>
              <a:t>• PCA: 1,440-minute HR vectors → 5 principal components</a:t>
            </a:r>
          </a:p>
          <a:p>
            <a:pPr>
              <a:defRPr sz="2000"/>
            </a:pPr>
            <a:r>
              <a:t>• Components capture bimodal exertion signatures (rest vs activity periods)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PCA Explained Variance</a:t>
            </a:r>
          </a:p>
        </p:txBody>
      </p:sp>
      <p:pic>
        <p:nvPicPr>
          <p:cNvPr id="3" name="Picture 2" descr="pca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764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Components 1-5 capture cumulative variance in daily heart rate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EDA: Protein vs Resting Heart Rate</a:t>
            </a:r>
          </a:p>
        </p:txBody>
      </p:sp>
      <p:pic>
        <p:nvPicPr>
          <p:cNvPr id="3" name="Picture 2" descr="protein_vs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773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Higher protein intake shows trend toward lower resting heart rate for active individuals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Correlation Analysis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6674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Strong correlations exist between activity metrics and calorie burn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Data Mining Techniques Applied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K-Means Clustering (k=3): Daily activity archetype discovery</a:t>
            </a:r>
          </a:p>
          <a:p>
            <a:pPr>
              <a:defRPr sz="2000"/>
            </a:pPr>
            <a:r>
              <a:t>• Apriori Algorithm: Nutrition-workout-sleep association rules</a:t>
            </a:r>
          </a:p>
          <a:p>
            <a:pPr>
              <a:defRPr sz="2000"/>
            </a:pPr>
            <a:r>
              <a:t>• Linear Regression: Daily calorie burn prediction</a:t>
            </a:r>
          </a:p>
          <a:p>
            <a:pPr>
              <a:defRPr sz="2000"/>
            </a:pPr>
            <a:r>
              <a:t>• Random Forest Classification: Next-day recovery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Cluster Distribution</a:t>
            </a:r>
          </a:p>
        </p:txBody>
      </p:sp>
      <p:pic>
        <p:nvPicPr>
          <p:cNvPr id="3" name="Picture 2" descr="cluster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47683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Three distinct daily activity archetypes emerge from K-Means clustering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Cluster Feature Profiles</a:t>
            </a:r>
          </a:p>
        </p:txBody>
      </p:sp>
      <p:pic>
        <p:nvPicPr>
          <p:cNvPr id="3" name="Picture 2" descr="clust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80960" cy="3809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Feature means by cluster reveal distinct activity patterns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Association Rule Mining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108 rules discovered with lift &gt; 1.1</a:t>
            </a:r>
          </a:p>
          <a:p>
            <a:pPr>
              <a:defRPr sz="2000"/>
            </a:pPr>
            <a:r>
              <a:t>• Top rule: vegetarian + high calories + high strain → high steps (lift 2.58)</a:t>
            </a:r>
          </a:p>
          <a:p>
            <a:pPr>
              <a:defRPr sz="2000"/>
            </a:pPr>
            <a:r>
              <a:t>• Strong association between high strain workouts and high steps</a:t>
            </a:r>
          </a:p>
          <a:p>
            <a:pPr>
              <a:defRPr sz="2000"/>
            </a:pPr>
            <a:r>
              <a:t>• Vegetarian meals often paired with high activity days</a:t>
            </a:r>
          </a:p>
          <a:p>
            <a:pPr>
              <a:defRPr sz="2000"/>
            </a:pPr>
            <a:r>
              <a:t>• Low resting HR associated with high protein intake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Model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REGRESSION MODEL</a:t>
            </a:r>
          </a:p>
          <a:p>
            <a:pPr>
              <a:defRPr sz="1800"/>
            </a:pPr>
            <a:r>
              <a:t>R² Score: 0.462</a:t>
            </a:r>
          </a:p>
          <a:p>
            <a:pPr>
              <a:defRPr sz="1800"/>
            </a:pPr>
            <a:r>
              <a:t>RMSE: 520.20 kcal</a:t>
            </a:r>
          </a:p>
          <a:p>
            <a:br/>
            <a:pPr>
              <a:defRPr sz="2000" b="1"/>
            </a:pPr>
            <a:r>
              <a:t>CLASSIFICATION MODEL</a:t>
            </a:r>
          </a:p>
          <a:p>
            <a:pPr>
              <a:defRPr sz="1800"/>
            </a:pPr>
            <a:r>
              <a:t>F1 Score: 0.779</a:t>
            </a:r>
          </a:p>
          <a:p>
            <a:pPr>
              <a:defRPr sz="1800"/>
            </a:pPr>
            <a:r>
              <a:t>ROC-AUC: 0.940</a:t>
            </a:r>
          </a:p>
          <a:p>
            <a:br/>
            <a:pPr>
              <a:defRPr sz="2000" b="1"/>
            </a:pPr>
            <a:r>
              <a:t>CLUSTERING MODEL</a:t>
            </a:r>
          </a:p>
          <a:p>
            <a:pPr>
              <a:defRPr sz="1800"/>
            </a:pPr>
            <a:r>
              <a:t>Silhouette Score: 0.526</a:t>
            </a:r>
          </a:p>
          <a:p>
            <a:pPr>
              <a:defRPr sz="1800"/>
            </a:pPr>
            <a:r>
              <a:t>Davies-Bouldin Index: 0.609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Confusion Matrix</a:t>
            </a:r>
          </a:p>
          <a:p>
            <a:pPr>
              <a:defRPr sz="1600"/>
            </a:pPr>
            <a:r>
              <a:t>True Negative: 1474</a:t>
            </a:r>
          </a:p>
          <a:p>
            <a:pPr>
              <a:defRPr sz="1600"/>
            </a:pPr>
            <a:r>
              <a:t>False Positive: 180</a:t>
            </a:r>
          </a:p>
          <a:p>
            <a:pPr>
              <a:defRPr sz="1600"/>
            </a:pPr>
            <a:r>
              <a:t>False Negative: 198</a:t>
            </a:r>
          </a:p>
          <a:p>
            <a:pPr>
              <a:defRPr sz="1600"/>
            </a:pPr>
            <a:r>
              <a:t>True Positive: 667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Key Findings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PCA successfully compresses HR data: 1440 dimensions → 5 components</a:t>
            </a:r>
          </a:p>
          <a:p>
            <a:pPr>
              <a:defRPr sz="2000"/>
            </a:pPr>
            <a:r>
              <a:t>• Three distinct recovery archetypes identified via clustering</a:t>
            </a:r>
          </a:p>
          <a:p>
            <a:pPr>
              <a:defRPr sz="2000"/>
            </a:pPr>
            <a:r>
              <a:t>• Strong nutrition-workout associations: high protein + poultry → better recovery</a:t>
            </a:r>
          </a:p>
          <a:p>
            <a:pPr>
              <a:defRPr sz="2000"/>
            </a:pPr>
            <a:r>
              <a:t>• Random Forest achieves 94% AUC for recovery prediction</a:t>
            </a:r>
          </a:p>
          <a:p>
            <a:pPr>
              <a:defRPr sz="2000"/>
            </a:pPr>
            <a:r>
              <a:t>• Linear regression explains 46% of calorie variance with limited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Validity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Data from 33 Fitbit users - sample size limits generalization</a:t>
            </a:r>
          </a:p>
          <a:p>
            <a:pPr>
              <a:defRPr sz="2000"/>
            </a:pPr>
            <a:r>
              <a:t>• Nutrition data is synthetic daily aggregation (real foods, synthetic pairing)</a:t>
            </a:r>
          </a:p>
          <a:p>
            <a:pPr>
              <a:defRPr sz="2000"/>
            </a:pPr>
            <a:r>
              <a:t>• Self-reported exercise data may have accuracy limitations</a:t>
            </a:r>
          </a:p>
          <a:p>
            <a:pPr>
              <a:defRPr sz="2000"/>
            </a:pPr>
            <a:r>
              <a:t>• Recovery label derived from sleep + HR thresholds (not clinical)</a:t>
            </a:r>
          </a:p>
          <a:p>
            <a:pPr>
              <a:defRPr sz="2000"/>
            </a:pPr>
            <a:r>
              <a:t>• Future work: larger sample, personal metabolic models, longitudinal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Data Pipeline</a:t>
            </a:r>
          </a:p>
          <a:p>
            <a:pPr lvl="1">
              <a:defRPr sz="1600"/>
            </a:pPr>
            <a:r>
              <a:t>• Python ETL scripts extract from multiple zip archives</a:t>
            </a:r>
          </a:p>
          <a:p>
            <a:pPr lvl="1">
              <a:defRPr sz="1600"/>
            </a:pPr>
            <a:r>
              <a:t>• SQLite data warehouse with star schema</a:t>
            </a:r>
          </a:p>
          <a:p>
            <a:pPr lvl="1">
              <a:defRPr sz="1600"/>
            </a:pPr>
            <a:r>
              <a:t>• Joblib-saved models for reproducibility</a:t>
            </a:r>
          </a:p>
          <a:p>
            <a:pPr lvl="1">
              <a:defRPr sz="1600"/>
            </a:pPr>
            <a:r>
              <a:t>• JSON configuration for portability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Deliverables</a:t>
            </a:r>
          </a:p>
          <a:p>
            <a:pPr lvl="1">
              <a:defRPr sz="1600"/>
            </a:pPr>
            <a:r>
              <a:t>• Interactive Streamlit dashboard</a:t>
            </a:r>
          </a:p>
          <a:p>
            <a:pPr lvl="1">
              <a:defRPr sz="1600"/>
            </a:pPr>
            <a:r>
              <a:t>• Static HTML dashboard (GitHub Pages ready)</a:t>
            </a:r>
          </a:p>
          <a:p>
            <a:pPr lvl="1">
              <a:defRPr sz="1600"/>
            </a:pPr>
            <a:r>
              <a:t>• Flask API for predictions</a:t>
            </a:r>
          </a:p>
          <a:p>
            <a:pPr lvl="1">
              <a:defRPr sz="1600"/>
            </a:pPr>
            <a:r>
              <a:t>• PowerPoint presentation with speaker notes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F549E"/>
                </a:solidFill>
              </a:defRPr>
            </a:pPr>
            <a:r>
              <a:t>Conclusions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Successfully integrated multimodal biometric data into actionable insights</a:t>
            </a:r>
          </a:p>
          <a:p>
            <a:pPr>
              <a:defRPr sz="2000"/>
            </a:pPr>
            <a:r>
              <a:t>• Association rules reveal diet-exercise relationships useful for recommendations</a:t>
            </a:r>
          </a:p>
          <a:p>
            <a:pPr>
              <a:defRPr sz="2000"/>
            </a:pPr>
            <a:r>
              <a:t>• Classification model enables real-time recovery predictions via API</a:t>
            </a:r>
          </a:p>
          <a:p>
            <a:pPr>
              <a:defRPr sz="2000"/>
            </a:pPr>
            <a:r>
              <a:t>• Next steps: personal metabolic models, larger dataset, longitudinal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